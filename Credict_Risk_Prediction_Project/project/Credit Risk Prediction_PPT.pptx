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97" r:id="rId3"/>
    <p:sldId id="25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275" r:id="rId14"/>
  </p:sldIdLst>
  <p:sldSz cx="9144000" cy="5143500" type="screen16x9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Medium" panose="000006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2A9B5D-92C0-4243-9D8A-A62384309F35}">
  <a:tblStyle styleId="{422A9B5D-92C0-4243-9D8A-A62384309F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47B812-F709-4C09-846F-DB15E914F1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5:53:05.7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5:54:34.1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212 145 24575,'-2'106'0,"0"-20"0,9 84 0,-6-160 0,0 1 0,1-1 0,0 0 0,1 0 0,0 0 0,1 0 0,0 0 0,0-1 0,1 0 0,0 1 0,0-2 0,1 1 0,1-1 0,-1 0 0,1 0 0,12 10 0,82 70 0,-43-35 0,113 78 0,-160-126 0,-1 0 0,1 0 0,0-1 0,0-1 0,0 0 0,0 0 0,0-1 0,1-1 0,-1 1 0,1-2 0,-1 0 0,1 0 0,17-4 0,14-3 0,-1-2 0,48-16 0,-60 11 0,-26 11 0,-1 1 0,1 0 0,0 0 0,0 0 0,0 1 0,0-1 0,0 1 0,0 0 0,0 0 0,6 0 0,-9 1 0,-1 0 0,0 0 0,1 0 0,-1 0 0,0 0 0,1 0 0,-1 0 0,0 1 0,0-1 0,1 0 0,-1 0 0,0 0 0,0 0 0,1 1 0,-1-1 0,0 0 0,0 0 0,0 1 0,1-1 0,-1 0 0,0 0 0,0 1 0,0-1 0,0 0 0,1 1 0,-1-1 0,0 0 0,0 0 0,0 1 0,0-1 0,0 0 0,0 1 0,0-1 0,0 0 0,0 1 0,-5 14 0,-12 13 0,-2-6 0,0 0 0,-2-1 0,-1-1 0,0-1 0,-43 28 0,22-21 0,-1-1 0,-70 28 0,90-43 0,1-2 0,-35 7 0,51-13 0,0-1 0,0 1 0,-1-2 0,1 1 0,0-1 0,0 0 0,0-1 0,0 0 0,0 0 0,0 0 0,0-1 0,-14-5 0,20 6 0,-1 0 0,0-1 0,0 1 0,1 0 0,-1-1 0,0 1 0,1-1 0,0 0 0,-1 1 0,1-1 0,0 0 0,0 0 0,0 0 0,0 0 0,0 0 0,0 0 0,0-4 0,-4-41 0,5 41 0,0-1 0,0 1 0,-1 0 0,1 0 0,-2 0 0,1 0 0,-3-8 0,-2 6 0,0 0 0,-1 1 0,0 0 0,0 0 0,0 1 0,-1 0 0,0 0 0,0 0 0,-1 1 0,-10-4 0,0-3 0,-79-31 0,94 40 0,0 0 0,0 0 0,1-1 0,0 1 0,-1-1 0,1 0 0,1 0 0,-1 0 0,0 0 0,1 0 0,0 0 0,0-1 0,0 1 0,-1-6 0,1 4 0,0 0 0,0 0 0,-1 1 0,0-1 0,0 1 0,0 0 0,-1 0 0,-6-7 0,-116-91 0,112 97 0,21 17 0,2 5 0,3 7 0,-1 1 0,-1 1 0,-1 0 0,-1 0 0,-1 0 0,-2 1 0,0 0 0,-2 0 0,1 38 0,-6 28 0,2-102 0,1 0 0,1 0 0,0 1 0,0-1 0,1 0 0,0 1 0,7-15 0,40-67 0,-33 62 0,119-194 0,168-211 0,-288 414 0,2-4 0,34-35 0,-46 54 0,0-1 0,0 1 0,1-1 0,0 2 0,0-1 0,1 1 0,-1 0 0,1 1 0,0 0 0,11-4 0,6 1 0,-17 3 0,1 1 0,-1-1 0,1 1 0,0 1 0,0 0 0,0 0 0,0 1 0,0 0 0,0 0 0,16 4 0,-23-3 0,-1-1 0,1 1 0,-1 1 0,1-1 0,-1 0 0,1 0 0,-1 0 0,0 1 0,1-1 0,-1 1 0,0-1 0,0 1 0,0-1 0,0 1 0,0 0 0,-1-1 0,1 1 0,0 0 0,-1 0 0,1 0 0,-1 2 0,4 46 0,-4-37 0,0 77 0,-11 102 0,4-141 0,-1-1 0,-3-1 0,-27 77 0,37-123 0,0 0 0,-1 0 0,1 0 0,0-1 0,-1 1 0,0 0 0,0-1 0,0 1 0,-3 2 0,5-5 0,0 0 0,0 1 0,0-1 0,-1 0 0,1 0 0,0 0 0,0 0 0,-1 0 0,1 0 0,0 0 0,0 1 0,0-1 0,-1 0 0,1 0 0,0 0 0,-1 0 0,1 0 0,0 0 0,0 0 0,-1 0 0,1 0 0,0 0 0,0-1 0,-1 1 0,1 0 0,0 0 0,0 0 0,0 0 0,-1 0 0,1 0 0,0 0 0,0-1 0,-1 1 0,1 0 0,0 0 0,0-1 0,-6-18 0,5-1 0,2-1 0,0 1 0,0 0 0,2 0 0,1 0 0,0 0 0,12-29 0,-15 44 0,8-31 0,-8 35 0,-1-1 0,0 0 0,0 0 0,0 1 0,1-1 0,-2 0 0,1 0 0,0 0 0,0 1 0,0-1 0,-1 0 0,1 0 0,-1 1 0,0-1 0,1 0 0,-2-1 0,2 3 0,-1 0 0,1 0 0,-1 0 0,1 0 0,0 0 0,-1 0 0,1 0 0,0 0 0,-1 0 0,1 0 0,0 0 0,-1 0 0,1 0 0,0 1 0,-1-1 0,1 0 0,0 0 0,-1 0 0,1 1 0,0-1 0,-1 0 0,1 0 0,0 1 0,0-1 0,-1 0 0,1 0 0,0 1 0,0-1 0,0 0 0,0 1 0,-1-1 0,1 0 0,0 1 0,0 0 0,-9 14 0,9-14 0,-17 35 0,-14 44 0,8-18 0,8-38 0,-6 9 0,21-32 0,-1 0 0,1-1 0,-1 1 0,1 0 0,0 0 0,-1 0 0,1 0 0,0 0 0,0 0 0,-1 0 0,1 0 0,0 0 0,0 0 0,0 0 0,0 0 0,0 0 0,1 0 0,-1 0 0,0 0 0,0 0 0,1 0 0,-1 0 0,0-1 0,1 1 0,-1 0 0,1 0 0,0 1 0,0-2 0,0 1 0,0-1 0,0 1 0,0-1 0,0 0 0,0 0 0,0 1 0,0-1 0,0 0 0,0 0 0,0 0 0,0 0 0,0 0 0,0 0 0,0 0 0,0-1 0,0 1 0,0 0 0,0 0 0,0-1 0,0 1 0,2-1 0,28-15 0,-14 7 0,539-210 0,-17-27 0,-503 226 0,-28 15 0,1 0 0,0 0 0,0 1 0,0 0 0,0 0 0,1 1 0,0 0 0,-1 1 0,1 0 0,0 0 0,17 1 0,21 4 0,-1 3 0,71 18 0,-80-14 0,1-2 0,1-2 0,-1-1 0,57-1 0,-331-3 0,110-3 0,-482-8 0,-2 0 0,526 10 0,445-36 0,-263 22 0,541-102 0,-583 98 0,-43 13 0,0 0 0,1 1 0,-1 0 0,1 2 0,20-3 0,435 5 0,-212 2 0,205-2 0,-429-2 0,0-1 0,49-12 0,4 0 0,163-12 0,272 6 0,854 22 0,-690-2 0,-636 4 0,-1 2 0,89 20 0,25 4 0,-91-18 0,78 23 0,6 1 0,-125-28 0,46 17 0,-56-16 0,2-1 0,-1-1 0,1 0 0,35 2 0,32 2 0,-54-5 0,44 0 0,61-1 0,234 37 0,-99 8 0,-229-44 0,-37-5 0,0 0 0,0 1 0,0 1 0,19 5 0,-29-7 0,1 0 0,0 0 0,-1 0 0,1 0 0,0 1 0,-1-1 0,1 0 0,0 0 0,-1 1 0,1-1 0,0 1 0,-1-1 0,1 0 0,-1 1 0,1-1 0,-1 1 0,1-1 0,-1 1 0,1 0 0,-1-1 0,0 1 0,1-1 0,-1 1 0,0 0 0,1-1 0,-1 1 0,0 0 0,0 0 0,0-1 0,0 2 0,0-1 0,-1 1 0,1-1 0,-1 0 0,0 0 0,1 1 0,-1-1 0,0 0 0,0 0 0,0 0 0,0 0 0,0 0 0,0 0 0,0-1 0,-2 2 0,-46 22 0,-7-4 0,-2-4 0,0-1 0,-1-4 0,0-1 0,-1-4 0,-105-1 0,-268-30 0,-223-56 0,511 62 0,-309-52 0,394 62 0,0 2 0,-67 0 0,43 4 0,-190-20 0,-43-2 0,166 24 0,90 3 0,-1-4 0,-62-9 0,50 4 0,0 2 0,-83 7 0,50 0 0,-1281-2 0,1356 2 0,1 2 0,0 1 0,1 1 0,-33 11 0,-25 5 0,-138 32 0,78-18 0,-215 26 0,313-56 0,1 3 0,-1 2 0,-71 25 0,-134 67 0,230-93 0,-207 105 0,92-43 0,122-63 0,-1 1 0,2 1 0,-1 0 0,1 1 0,1 1 0,0 0 0,1 1 0,1 1 0,0 1 0,-18 25 0,31-40 0,1 1 0,-1-1 0,0 0 0,0 0 0,1 0 0,-1 1 0,1-1 0,-1 0 0,1 1 0,0-1 0,-1 1 0,1-1 0,0 0 0,0 1 0,0-1 0,0 1 0,0-1 0,0 1 0,0-1 0,1 0 0,-1 1 0,0-1 0,2 2 0,-1-1 0,0-1 0,0 0 0,1 1 0,-1-1 0,1 0 0,-1 0 0,1 0 0,-1 0 0,1 0 0,0 0 0,-1 0 0,1-1 0,0 1 0,0-1 0,3 1 0,10 1 0,1 0 0,-1-1 0,27-3 0,-23 1 0,377-21 0,60-1 0,-444 23 0,-1-2 0,0 1 0,0-1 0,-1-1 0,1 0 0,12-5 0,-10 3 0,-1 1 0,1 0 0,25-3 0,215-3 0,-20 2 0,-66 3 0,-48-4 0,42-2 0,562 11 0,-337 1 0,-244 0 0,188 27 0,-89 10 0,-179-26 0,1 4 0,-2 2 0,64 27 0,-112-40 0,33 11 0,-1-3 0,76 12 0,98 1 0,-108-15 0,690 24 0,-663-34 0,135-3 0,-256-1 0,0-1 0,-1 0 0,1-1 0,-1-1 0,0-1 0,0 0 0,0-1 0,17-12 0,2 0 0,2 1 0,287-170 0,-306 177 0,-10 8 0,-1 0 0,0 0 0,0-1 0,0-1 0,-1 1 0,0-1 0,0 0 0,0 0 0,6-10 0,-12 16 0,1 0 0,-1-1 0,0 1 0,0-1 0,0 1 0,0-1 0,0 0 0,0 1 0,0-1 0,0 1 0,0-1 0,0 1 0,0-1 0,0 1 0,0-1 0,0 1 0,0-1 0,0 1 0,-1-1 0,1 1 0,0 0 0,0-1 0,-1 1 0,1-1 0,0 1 0,-1-1 0,1 1 0,0 0 0,-1-1 0,0 1 0,-18-8 0,-25 3 0,42 5 0,-266-1 0,114 3 0,126 0 0,0 1 0,-1 1 0,-39 11 0,2 0 0,-334 71 0,-74 14 0,440-96 0,0-2 0,-67-3 0,35-1 0,-29 2 0,-66 0 0,-189-24 0,285 15 0,-270-48 0,-675-174 0,959 220 0,0 3 0,-1 2 0,0 2 0,1 2 0,-56 6 0,-438 80 0,376-52 0,79-13 0,49-9 0,-81 9 0,150-24 0,51-17 0,-11 3 0,82-17 0,165-17 0,-206 42 0,1 5 0,150 10 0,-151 10 0,-1 5 0,126 39 0,-171-41 0,1019 287 0,-1037-292 0,74 10 0,9 3 0,-83-15 0,0-2 0,0-2 0,80 1 0,136-25 0,-203 9 0,0-3 0,78-25 0,104-55 0,-166 64 0,-51 21 0,-1-1 0,0-1 0,-1-1 0,25-15 0,-44 24 0,0 0 0,0 0 0,0-1 0,0 1 0,0-1 0,0 1 0,-1-1 0,1 0 0,-1 0 0,1 1 0,-1-1 0,0 0 0,1 0 0,-1 0 0,0-1 0,-1 1 0,1 0 0,0 0 0,0 0 0,-1-1 0,0 1 0,1 0 0,-1-1 0,0 1 0,0 0 0,0-1 0,0 1 0,-1-3 0,0 1 0,-1 1 0,1 0 0,-1 0 0,0 0 0,0 0 0,0 1 0,0-1 0,-1 0 0,1 1 0,-1-1 0,1 1 0,-1 0 0,0 0 0,0 0 0,0 0 0,0 1 0,0-1 0,-5-1 0,-24-7 0,0 1 0,-1 2 0,-47-5 0,16 2 0,-171-24 0,-239-4 0,297 30 0,-145-4 0,13 2 0,-11 0 0,-46 10 0,384-1 0,0-2 0,0 0 0,0-1 0,19-6 0,9-3 0,282-60 0,-257 58 0,0 4 0,97-2 0,147 13 0,-137 2 0,-82-3 0,103 2 0,-171 1 0,0 1 0,0 1 0,0 2 0,49 16 0,-117-17 0,-1191 45 0,123 82 0,756-105 0,-4-28 0,135-1 0,142 0 0,0-4 0,-89-18 0,-154-50 0,236 56 0,-1 2 0,-114-4 0,-175 13 0,312 7 0,-200 2 0,320 18 0,-46-16 0,-1 1 0,1-1 0,-1 2 0,-1-1 0,1 1 0,-1 0 0,0 1 0,0 0 0,7 9 0,-12-12 0,1 1 0,-1 0 0,0-1 0,0 1 0,-1 1 0,1-1 0,-1 0 0,0 1 0,-1-1 0,1 1 0,-1-1 0,0 1 0,-1 0 0,1-1 0,-1 1 0,0 0 0,-2 10 0,-1-1 0,-1 0 0,0 0 0,-1-1 0,-1 1 0,0-1 0,-1 0 0,-8 13 0,-5 2 0,-44 53 0,47-64 0,-2-1 0,0-1 0,-40 26 0,-15 12 0,73-54 0,0 1 0,-1 0 0,1 0 0,0-1 0,0 1 0,0 0 0,0 0 0,0 0 0,0 1 0,0-1 0,0 0 0,1 0 0,-1 0 0,0 0 0,1 1 0,-1-1 0,1 0 0,-1 1 0,1-1 0,-1 1 0,1-1 0,0 0 0,0 1 0,0-1 0,0 1 0,0-1 0,0 0 0,0 1 0,0-1 0,1 1 0,-1-1 0,1 0 0,-1 1 0,1-1 0,-1 0 0,1 1 0,0-1 0,-1 0 0,1 0 0,0 0 0,0 0 0,2 2 0,3 3 0,1-1 0,1 1 0,-1-2 0,1 1 0,13 5 0,52 21 0,92 26 0,-56-21 0,269 75 0,-298-94 0,1-4 0,149 5 0,360-55 0,-358 15 0,-30 16 0,-4 0 0,853-120 0,-946 116 0,192 7 0,-142 5 0,-30-3 0,0-5 0,0-6 0,152-35 0,-239 40 0,-27 6 0,-1 0 0,1-2 0,-1 1 0,14-6 0,-23 8 0,0 0 0,-1 0 0,1-1 0,0 1 0,-1 0 0,1 0 0,-1 0 0,1-1 0,0 1 0,-1 0 0,1-1 0,-1 1 0,1-1 0,-1 1 0,1 0 0,-1-1 0,1 1 0,-1-1 0,1 1 0,-1-1 0,0 0 0,1 1 0,-1-1 0,0 1 0,1-1 0,-1 0 0,0 1 0,0-1 0,0 0 0,0 1 0,1-1 0,-1 0 0,0 1 0,0-1 0,0 0 0,0 1 0,-1-1 0,1 0 0,0 1 0,0-1 0,0 0 0,0 1 0,-1-1 0,1 1 0,0-1 0,-1 0 0,1 1 0,0-1 0,-1 1 0,1-1 0,-1 1 0,1-1 0,-1 1 0,1-1 0,-1 1 0,1 0 0,-2-1 0,-3-3 0,0 0 0,-1 1 0,1 0 0,-12-5 0,-34-9 0,0 1 0,-1 3 0,-1 2 0,-72-6 0,-222 2 0,330 15 0,-452 18-105,1 29-114,-245 15 4,535-61 423,-60 4 123,-143 7-331,51-3 0,-238 3 0,553-13 0,-1-1 0,-30-6 0,-2-2 0,3 3 0,5 1 0,-52-2 0,293 9 0,512 21 0,-579-4 0,-78-8 0,1-4 0,60 1 0,-37-8-1365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08F5CD1-E939-5ED5-A7EA-D6F2E4B2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B12B0D2B-1D73-6A16-6D70-7ED427160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53AFFE0C-E2DD-E5F6-CCCA-3EC06D34F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735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95A6757D-C682-5A8B-70FE-510672B6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9B2A7DE5-B7AE-1362-55B1-A0956ACFC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40C333A7-DDE0-C269-6DEA-58E97E68D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247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F80FF6C2-24CA-7F80-8A00-0E6210A8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A5DB4B97-950D-7536-460F-4997E467B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8BF99692-2409-B564-55BC-A01100E0D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337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F201E5B8-0F3D-D427-2718-174F949A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1B0E1F5C-E363-080C-A477-C50578B9E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47DBB12F-6CE4-744B-C27C-C4B653B6F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759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2F64CD06-9C83-E824-26D1-D0B409BA1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3E0A0D8E-3168-A6F9-E2B3-87044C550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56D7A7A5-C210-0046-6663-7BBCB02E5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940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76A7BE-6538-5D3C-B855-DF2BFB49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69B22E61-B6BF-738A-E8BE-468C771C6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39E9D81D-A339-9A63-6F05-319CA4626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650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474F7C90-F888-1FD2-E697-E2348DEA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56267789-0827-FF81-9D9C-EDDB67602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992BF95D-CF83-35CE-5144-A7EA626FE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901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DCFEFF3-EFE7-DDA4-BD86-530CC0A98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A33B1264-7049-60C6-3F17-1CCAF22A7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C8D794C4-8ADD-16F8-F236-C22920184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920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A83CB6F-68C7-F080-3FD1-EF14CC8B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429D0663-E037-3881-03F4-8F46F1974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E33ED5DA-5DB8-0428-9EC8-4BA84FEDA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5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E6C1B34-0606-621F-80FB-38B22596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ce2af5b70_0_0:notes">
            <a:extLst>
              <a:ext uri="{FF2B5EF4-FFF2-40B4-BE49-F238E27FC236}">
                <a16:creationId xmlns:a16="http://schemas.microsoft.com/office/drawing/2014/main" id="{127CCE2B-B3BA-308D-C516-81768ECBF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ce2af5b70_0_0:notes">
            <a:extLst>
              <a:ext uri="{FF2B5EF4-FFF2-40B4-BE49-F238E27FC236}">
                <a16:creationId xmlns:a16="http://schemas.microsoft.com/office/drawing/2014/main" id="{A5D096C2-F65C-BC76-C1E3-6E2978D58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444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3ce2af5b7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3ce2af5b7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9914" y="1684975"/>
            <a:ext cx="4690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9825" y="3013850"/>
            <a:ext cx="46902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760335" y="1241018"/>
            <a:ext cx="2661300" cy="266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-1619664" y="426270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597536" y="-26834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5747586" y="-264500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412739" y="468020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751400" y="1053150"/>
            <a:ext cx="5641200" cy="30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8141786" y="180335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-1909214" y="-13100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078450" y="1597225"/>
            <a:ext cx="4987200" cy="7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078450" y="2311175"/>
            <a:ext cx="4987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-831764" y="430545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5892611" y="-23762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-2385914" y="26705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8421636" y="101760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ctrTitle"/>
          </p:nvPr>
        </p:nvSpPr>
        <p:spPr>
          <a:xfrm>
            <a:off x="1013125" y="545685"/>
            <a:ext cx="3773100" cy="9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1013125" y="1446576"/>
            <a:ext cx="37731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>
            <a:spLocks noGrp="1"/>
          </p:cNvSpPr>
          <p:nvPr>
            <p:ph type="pic" idx="2"/>
          </p:nvPr>
        </p:nvSpPr>
        <p:spPr>
          <a:xfrm>
            <a:off x="5760335" y="1241018"/>
            <a:ext cx="2661300" cy="266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7" name="Google Shape;147;p22"/>
          <p:cNvSpPr txBox="1"/>
          <p:nvPr/>
        </p:nvSpPr>
        <p:spPr>
          <a:xfrm>
            <a:off x="1013125" y="3513525"/>
            <a:ext cx="328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, including icons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and infographics &amp; images by 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4022011" y="-23377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0" y="-50"/>
            <a:ext cx="165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7192261" y="34199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7494000" y="-50"/>
            <a:ext cx="165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-797339" y="-23377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3410711" y="44008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-967939" y="-2110250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8052011" y="31924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8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7494000" y="-50"/>
            <a:ext cx="165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5536836" y="10176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659825" y="408878"/>
            <a:ext cx="4690200" cy="20552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Cloud-Based Credit Risk Detection Using Machine Learning on Amazon-</a:t>
            </a:r>
            <a:r>
              <a:rPr lang="en-US" sz="3200" dirty="0" err="1"/>
              <a:t>Sagemaker</a:t>
            </a:r>
            <a:endParaRPr lang="en-US" sz="1800" b="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623135" y="2627275"/>
            <a:ext cx="4690200" cy="888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2">
                    <a:lumMod val="95000"/>
                    <a:lumOff val="5000"/>
                  </a:schemeClr>
                </a:solidFill>
              </a:rPr>
              <a:t>Guided By,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2">
                    <a:lumMod val="95000"/>
                    <a:lumOff val="5000"/>
                  </a:schemeClr>
                </a:solidFill>
              </a:rPr>
              <a:t>Prof. Amjad Osama</a:t>
            </a:r>
          </a:p>
        </p:txBody>
      </p:sp>
      <p:pic>
        <p:nvPicPr>
          <p:cNvPr id="173" name="Google Shape;173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957" r="22394"/>
          <a:stretch/>
        </p:blipFill>
        <p:spPr>
          <a:xfrm>
            <a:off x="5760335" y="1241018"/>
            <a:ext cx="2661300" cy="2661300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9FDA6-891B-90C1-2E33-2C69ED0ECBC3}"/>
              </a:ext>
            </a:extLst>
          </p:cNvPr>
          <p:cNvSpPr txBox="1"/>
          <p:nvPr/>
        </p:nvSpPr>
        <p:spPr>
          <a:xfrm>
            <a:off x="3932153" y="4149846"/>
            <a:ext cx="46535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Presented By,</a:t>
            </a:r>
          </a:p>
          <a:p>
            <a:pPr algn="ctr"/>
            <a:endParaRPr lang="en-US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Ayushkumar Patel (1269216)</a:t>
            </a:r>
          </a:p>
          <a:p>
            <a:pPr algn="ctr"/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Smit Patel (1263497)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421255F-CD91-97E4-8F66-B881D519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1E2AB-66F8-60CA-8FAE-A0219914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40" y="69613"/>
            <a:ext cx="7699200" cy="572700"/>
          </a:xfrm>
        </p:spPr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124EB-15B8-B312-0E13-3459A5D689C7}"/>
              </a:ext>
            </a:extLst>
          </p:cNvPr>
          <p:cNvSpPr txBox="1"/>
          <p:nvPr/>
        </p:nvSpPr>
        <p:spPr>
          <a:xfrm>
            <a:off x="853440" y="534000"/>
            <a:ext cx="6995160" cy="393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Project Overview &amp; Objectives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Cloud Services and Tools Used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Dataset Description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Methodology &amp; Workflow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Machine Learning Model Training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Cloud Deployment on AWS </a:t>
            </a:r>
            <a:r>
              <a:rPr lang="en-US" dirty="0" err="1"/>
              <a:t>SageMaker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Frontend Implementation with </a:t>
            </a:r>
            <a:r>
              <a:rPr lang="en-IN" dirty="0" err="1"/>
              <a:t>Streamlit</a:t>
            </a:r>
            <a:r>
              <a:rPr lang="en-IN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Results and Evaluation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/>
              <a:t>Conclusion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Future Work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793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D3274D-B31A-A255-634E-B12D90B0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50"/>
            <a:ext cx="7699200" cy="572700"/>
          </a:xfrm>
        </p:spPr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A8EC6-2EAA-E1CB-B2BD-EF3894B77938}"/>
              </a:ext>
            </a:extLst>
          </p:cNvPr>
          <p:cNvSpPr txBox="1"/>
          <p:nvPr/>
        </p:nvSpPr>
        <p:spPr>
          <a:xfrm>
            <a:off x="722400" y="899532"/>
            <a:ext cx="8020156" cy="323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project about?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real-time credit risk assessment system using Machine Learning deployed on AWS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likelihood of loan approval or rejection based on financial and demographic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frontend using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connected to a cloud API endpoint.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scalability and cost-effectiveness on AWS.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use of AI/ML in real-world finance applications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52D92869-E78D-2F77-0747-E78709E2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75B34-D668-855D-EAB8-7CD3E4FE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50"/>
            <a:ext cx="7699200" cy="572700"/>
          </a:xfrm>
        </p:spPr>
        <p:txBody>
          <a:bodyPr/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13F6F-19AE-7AC3-6AB6-CE28B36E80EC}"/>
              </a:ext>
            </a:extLst>
          </p:cNvPr>
          <p:cNvSpPr txBox="1"/>
          <p:nvPr/>
        </p:nvSpPr>
        <p:spPr>
          <a:xfrm>
            <a:off x="722400" y="1157997"/>
            <a:ext cx="8020156" cy="282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Goals: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ML pipeline hosted entirely in the cloud.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low-latency predictions (&lt;500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for live banking systems.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multiple AWS services for model training, deployment, and monitoring.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a user-friendly interface for end-users to submit loan applications and receive predictions instantly.</a:t>
            </a:r>
            <a:endParaRPr lang="en-IN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56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8AF91B67-A960-E60B-F326-44B6F50E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92E5BB-4D0E-F033-5A6A-55F949F2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50"/>
            <a:ext cx="7699200" cy="572700"/>
          </a:xfrm>
        </p:spPr>
        <p:txBody>
          <a:bodyPr/>
          <a:lstStyle/>
          <a:p>
            <a:r>
              <a:rPr lang="en-US" dirty="0"/>
              <a:t>Cloud Services &amp; Tools Used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25673-D475-4EE8-01EB-1792B8DEEFE1}"/>
              </a:ext>
            </a:extLst>
          </p:cNvPr>
          <p:cNvSpPr txBox="1"/>
          <p:nvPr/>
        </p:nvSpPr>
        <p:spPr>
          <a:xfrm>
            <a:off x="722400" y="1157997"/>
            <a:ext cx="8020156" cy="347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Infrastructure &amp; Tools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S3 – Data &amp; model artifact storage.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Model training, packaging, and endpoint hosting.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IAM – Secure role-based access management.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CloudWatch – Performance and latency monitoring.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EC2 – Development &amp; simulation environment.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VPC – Network isolation and secure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access.Streamlit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Frontend web interface.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(pandas, scikit-learn, boto3) – ML model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3015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728554B-7125-B579-489B-A22EEA9B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EB4D3-CFB5-9A84-6183-BC7CE584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50"/>
            <a:ext cx="7699200" cy="572700"/>
          </a:xfrm>
        </p:spPr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04C9B-4976-9BDE-80DA-98280140EAF8}"/>
              </a:ext>
            </a:extLst>
          </p:cNvPr>
          <p:cNvSpPr txBox="1"/>
          <p:nvPr/>
        </p:nvSpPr>
        <p:spPr>
          <a:xfrm>
            <a:off x="722400" y="1157997"/>
            <a:ext cx="8020156" cy="258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Processed Credit Risk Dataset.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Age, Annual Income, Credit Score, Loan Amount, Employment Status, Debt-to-Income Ratio, Previous Defaults, etc.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Loan Approval Status (Approved / Rejected).</a:t>
            </a:r>
          </a:p>
        </p:txBody>
      </p:sp>
    </p:spTree>
    <p:extLst>
      <p:ext uri="{BB962C8B-B14F-4D97-AF65-F5344CB8AC3E}">
        <p14:creationId xmlns:p14="http://schemas.microsoft.com/office/powerpoint/2010/main" val="407672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065095DA-6DAF-969E-2646-5135246D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60F04-1017-FCC6-D081-418C5DB1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50"/>
            <a:ext cx="7699200" cy="572700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FACFA-0966-B767-BC53-D2453456F0DE}"/>
              </a:ext>
            </a:extLst>
          </p:cNvPr>
          <p:cNvSpPr txBox="1"/>
          <p:nvPr/>
        </p:nvSpPr>
        <p:spPr>
          <a:xfrm>
            <a:off x="387864" y="820350"/>
            <a:ext cx="4763999" cy="39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– Handle missing values, encode categorical features, normalize continuous variables.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– Random Forest Classifier tuned via grid search for optimal parameters.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– Model serialized, packaged, and uploaded to AWS S3. Endpoint deployed via AWS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Integration –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 makes POST requests to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endpoint for predictions.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E833C-FE67-8F1C-5711-12BE7CA07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64" y="1371135"/>
            <a:ext cx="3601845" cy="240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4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030783C1-C1BE-CBCF-BADB-FCA7ABF9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BC9EE-1E87-52A4-CD1C-EB8CD798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49"/>
            <a:ext cx="7699200" cy="910347"/>
          </a:xfrm>
        </p:spPr>
        <p:txBody>
          <a:bodyPr/>
          <a:lstStyle/>
          <a:p>
            <a:r>
              <a:rPr lang="en-IN" dirty="0"/>
              <a:t>Model Training Machine Learning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F8D4D-A427-B795-7961-DC9817346D17}"/>
              </a:ext>
            </a:extLst>
          </p:cNvPr>
          <p:cNvSpPr txBox="1"/>
          <p:nvPr/>
        </p:nvSpPr>
        <p:spPr>
          <a:xfrm>
            <a:off x="254049" y="1050274"/>
            <a:ext cx="3708351" cy="347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Algorithm: Random Forest Classifier.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=100,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mixed categorical &amp; numerical features.</a:t>
            </a: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via averaging.</a:t>
            </a:r>
          </a:p>
          <a:p>
            <a:pPr marL="2857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feature importance.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1FBDC-8F8B-6A59-7A30-2617784C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66" y="2151713"/>
            <a:ext cx="5404624" cy="108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7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78719A7-0414-3A16-E9CA-DB58B53F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8150C-2167-ED78-BE38-9F2D22E2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49"/>
            <a:ext cx="7699200" cy="910347"/>
          </a:xfrm>
        </p:spPr>
        <p:txBody>
          <a:bodyPr/>
          <a:lstStyle/>
          <a:p>
            <a:r>
              <a:rPr lang="en-IN" dirty="0"/>
              <a:t>Cloud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E9BE2-F6A0-0D54-4926-227D540FBA2B}"/>
              </a:ext>
            </a:extLst>
          </p:cNvPr>
          <p:cNvSpPr txBox="1"/>
          <p:nvPr/>
        </p:nvSpPr>
        <p:spPr>
          <a:xfrm>
            <a:off x="848780" y="801158"/>
            <a:ext cx="8020156" cy="21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Deployment: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packaged into .tar.gz and stored in S3.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object created using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SKLearnModel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 deployed for real-time inference.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CloudWatch monitoring for latency and uptime tracking.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BC9FA-6D1D-229A-59ED-ABCC9CD0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61" y="3095681"/>
            <a:ext cx="6934771" cy="159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9588E75-85A1-F7B3-0D55-6B91DCCE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CF3B86-E8D8-15D8-4E0F-214055C3E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49"/>
            <a:ext cx="7699200" cy="910347"/>
          </a:xfrm>
        </p:spPr>
        <p:txBody>
          <a:bodyPr/>
          <a:lstStyle/>
          <a:p>
            <a:r>
              <a:rPr lang="en-IN" dirty="0"/>
              <a:t>Frontend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0A3FF-99F0-5FE7-8CE7-CC17E2FAE4BF}"/>
              </a:ext>
            </a:extLst>
          </p:cNvPr>
          <p:cNvSpPr txBox="1"/>
          <p:nvPr/>
        </p:nvSpPr>
        <p:spPr>
          <a:xfrm>
            <a:off x="722400" y="1157997"/>
            <a:ext cx="3515063" cy="39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UIContent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 Age, Income, Credit Score, Loan Amount, Employment Status,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etc.Outputs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Prediction: “Approved” or “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Rejected”Probability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(e.g., 92% approval likelihood).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AWS endpoint via boto3 SDK.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E86C9-9752-C317-97C9-930667F2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410" y="1003375"/>
            <a:ext cx="4638907" cy="372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2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E1BC0638-C095-0C3A-9EB7-3A5D50E5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62C8EB-B2B7-B4DF-EC41-B987F50E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247649"/>
            <a:ext cx="7699200" cy="910347"/>
          </a:xfrm>
        </p:spPr>
        <p:txBody>
          <a:bodyPr/>
          <a:lstStyle/>
          <a:p>
            <a:r>
              <a:rPr lang="en-IN" dirty="0"/>
              <a:t>Results &amp;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9F2EF-8AED-0ED4-5C1A-AB32CF6F9DE7}"/>
              </a:ext>
            </a:extLst>
          </p:cNvPr>
          <p:cNvSpPr txBox="1"/>
          <p:nvPr/>
        </p:nvSpPr>
        <p:spPr>
          <a:xfrm>
            <a:off x="722400" y="994446"/>
            <a:ext cx="8020156" cy="347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demonstrated high classification accuracy during validation, ensuring reliability in predicting credit risk categories.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showed a balanced performance between precision and recall, indicating effective handling of both high-risk and low-risk cases.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 confirmed that misclassification rates were minimal and within acceptable operational limits.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testing verified low-latency responses, making the solution viable for real-time financial applications.</a:t>
            </a:r>
          </a:p>
        </p:txBody>
      </p:sp>
    </p:spTree>
    <p:extLst>
      <p:ext uri="{BB962C8B-B14F-4D97-AF65-F5344CB8AC3E}">
        <p14:creationId xmlns:p14="http://schemas.microsoft.com/office/powerpoint/2010/main" val="328506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1242819-D15E-7A94-2E25-E9E58D24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B1E504-2932-A14F-04D8-1B49C068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0" y="128703"/>
            <a:ext cx="7699200" cy="910347"/>
          </a:xfrm>
        </p:spPr>
        <p:txBody>
          <a:bodyPr/>
          <a:lstStyle/>
          <a:p>
            <a:r>
              <a:rPr lang="en-IN" dirty="0"/>
              <a:t>Conclusion &amp;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8D05B-E2CD-C633-B1D9-588E473CF4F8}"/>
              </a:ext>
            </a:extLst>
          </p:cNvPr>
          <p:cNvSpPr txBox="1"/>
          <p:nvPr/>
        </p:nvSpPr>
        <p:spPr>
          <a:xfrm>
            <a:off x="722400" y="830895"/>
            <a:ext cx="8020156" cy="39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a highly accurate, low-latency ML model for credit risk prediction.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on AWS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secure and scalable architecture.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with a user-friendly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 application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accuracy.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Explainable AI (SHAP/LIME) to provide reasoning for predictions.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with additional borrower behavior metrics.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multi-language support in the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 for broader 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49839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8"/>
          <p:cNvSpPr/>
          <p:nvPr/>
        </p:nvSpPr>
        <p:spPr>
          <a:xfrm>
            <a:off x="7494000" y="-50"/>
            <a:ext cx="165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8"/>
          <p:cNvSpPr/>
          <p:nvPr/>
        </p:nvSpPr>
        <p:spPr>
          <a:xfrm>
            <a:off x="5536836" y="10176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8"/>
          <p:cNvSpPr txBox="1">
            <a:spLocks noGrp="1"/>
          </p:cNvSpPr>
          <p:nvPr>
            <p:ph type="ctrTitle"/>
          </p:nvPr>
        </p:nvSpPr>
        <p:spPr>
          <a:xfrm>
            <a:off x="288827" y="1665060"/>
            <a:ext cx="5441434" cy="16125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pic>
        <p:nvPicPr>
          <p:cNvPr id="469" name="Google Shape;469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4758" b="8543"/>
          <a:stretch/>
        </p:blipFill>
        <p:spPr>
          <a:xfrm>
            <a:off x="5760335" y="1241018"/>
            <a:ext cx="2661300" cy="2661300"/>
          </a:xfrm>
          <a:prstGeom prst="ellipse">
            <a:avLst/>
          </a:prstGeom>
        </p:spPr>
      </p:pic>
      <p:sp>
        <p:nvSpPr>
          <p:cNvPr id="470" name="Google Shape;470;p48"/>
          <p:cNvSpPr/>
          <p:nvPr/>
        </p:nvSpPr>
        <p:spPr>
          <a:xfrm>
            <a:off x="2682186" y="459782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8"/>
          <p:cNvSpPr/>
          <p:nvPr/>
        </p:nvSpPr>
        <p:spPr>
          <a:xfrm>
            <a:off x="4176111" y="-2562575"/>
            <a:ext cx="3108300" cy="31083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C3C249-16D8-7F92-64CC-9F02F0B988B3}"/>
                  </a:ext>
                </a:extLst>
              </p14:cNvPr>
              <p14:cNvContentPartPr/>
              <p14:nvPr/>
            </p14:nvContentPartPr>
            <p14:xfrm>
              <a:off x="1427265" y="382089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C3C249-16D8-7F92-64CC-9F02F0B988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1145" y="381477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0BF883-4612-60CA-7000-E80B4CC2CC7D}"/>
                  </a:ext>
                </a:extLst>
              </p14:cNvPr>
              <p14:cNvContentPartPr/>
              <p14:nvPr/>
            </p14:nvContentPartPr>
            <p14:xfrm>
              <a:off x="1113345" y="3642334"/>
              <a:ext cx="3092400" cy="54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0BF883-4612-60CA-7000-E80B4CC2CC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0345" y="3579694"/>
                <a:ext cx="3218040" cy="66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redit Card Project Proposal by Slidesgo">
  <a:themeElements>
    <a:clrScheme name="Simple Light">
      <a:dk1>
        <a:srgbClr val="023E8A"/>
      </a:dk1>
      <a:lt1>
        <a:srgbClr val="467B9D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685</Words>
  <Application>Microsoft Office PowerPoint</Application>
  <PresentationFormat>On-screen Show (16:9)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Montserrat Medium</vt:lpstr>
      <vt:lpstr>Montserrat</vt:lpstr>
      <vt:lpstr>Wingdings</vt:lpstr>
      <vt:lpstr>Times New Roman</vt:lpstr>
      <vt:lpstr>Arial</vt:lpstr>
      <vt:lpstr>Inter</vt:lpstr>
      <vt:lpstr>Credit Card Project Proposal by Slidesgo</vt:lpstr>
      <vt:lpstr>Cloud-Based Credit Risk Detection Using Machine Learning on Amazon-Sagemaker</vt:lpstr>
      <vt:lpstr>Contents</vt:lpstr>
      <vt:lpstr>Project Overview</vt:lpstr>
      <vt:lpstr>Project Objectives</vt:lpstr>
      <vt:lpstr>Cloud Services &amp; Tools Used</vt:lpstr>
      <vt:lpstr>Dataset Overview</vt:lpstr>
      <vt:lpstr>Methodology</vt:lpstr>
      <vt:lpstr>Model Training Machine Learning Details</vt:lpstr>
      <vt:lpstr>Cloud Deployment</vt:lpstr>
      <vt:lpstr>Frontend Implementation</vt:lpstr>
      <vt:lpstr>Results &amp; Evaluation</vt:lpstr>
      <vt:lpstr>Conclusion &amp; 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Smit Patel</cp:lastModifiedBy>
  <cp:revision>40</cp:revision>
  <dcterms:modified xsi:type="dcterms:W3CDTF">2025-08-11T17:04:04Z</dcterms:modified>
</cp:coreProperties>
</file>